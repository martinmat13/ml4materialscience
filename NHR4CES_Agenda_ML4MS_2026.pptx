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7"/>
  </p:notesMasterIdLst>
  <p:handoutMasterIdLst>
    <p:handoutMasterId r:id="rId8"/>
  </p:handoutMasterIdLst>
  <p:sldIdLst>
    <p:sldId id="559" r:id="rId5"/>
    <p:sldId id="569" r:id="rId6"/>
  </p:sldIdLst>
  <p:sldSz cx="12192000" cy="6858000"/>
  <p:notesSz cx="6797675" cy="9926638"/>
  <p:custDataLst>
    <p:tags r:id="rId9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leitung" id="{52D72BBE-685B-7F47-B143-CDF0C42147FF}">
          <p14:sldIdLst/>
        </p14:section>
        <p14:section name="Folienstart" id="{39302B07-4289-C54E-A744-B514F1ADE8A1}">
          <p14:sldIdLst>
            <p14:sldId id="559"/>
            <p14:sldId id="5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B1D0"/>
    <a:srgbClr val="F2EB7C"/>
    <a:srgbClr val="000000"/>
    <a:srgbClr val="C00000"/>
    <a:srgbClr val="B1E4E3"/>
    <a:srgbClr val="979797"/>
    <a:srgbClr val="4180B6"/>
    <a:srgbClr val="D8E4F1"/>
    <a:srgbClr val="F9CF00"/>
    <a:srgbClr val="73C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2"/>
    <p:restoredTop sz="94654"/>
  </p:normalViewPr>
  <p:slideViewPr>
    <p:cSldViewPr snapToGrid="0">
      <p:cViewPr varScale="1">
        <p:scale>
          <a:sx n="90" d="100"/>
          <a:sy n="90" d="100"/>
        </p:scale>
        <p:origin x="749" y="67"/>
      </p:cViewPr>
      <p:guideLst>
        <p:guide orient="horz" pos="40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862" cy="49579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579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579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8EFAB05-8F3C-4E93-94F3-2CA68B3F4C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224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84" tIns="45644" rIns="91284" bIns="45644" numCol="1" anchor="t" anchorCtr="0" compatLnSpc="1">
            <a:prstTxWarp prst="textNoShape">
              <a:avLst/>
            </a:prstTxWarp>
          </a:bodyPr>
          <a:lstStyle>
            <a:lvl1pPr defTabSz="912664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9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84" tIns="45644" rIns="91284" bIns="45644" numCol="1" anchor="t" anchorCtr="0" compatLnSpc="1">
            <a:prstTxWarp prst="textNoShape">
              <a:avLst/>
            </a:prstTxWarp>
          </a:bodyPr>
          <a:lstStyle>
            <a:lvl1pPr algn="r" defTabSz="912664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2950"/>
            <a:ext cx="6618287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2" y="471646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84" tIns="45644" rIns="91284" bIns="456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5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84" tIns="45644" rIns="91284" bIns="45644" numCol="1" anchor="b" anchorCtr="0" compatLnSpc="1">
            <a:prstTxWarp prst="textNoShape">
              <a:avLst/>
            </a:prstTxWarp>
          </a:bodyPr>
          <a:lstStyle>
            <a:lvl1pPr defTabSz="912664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90" y="9428165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84" tIns="45644" rIns="91284" bIns="45644" numCol="1" anchor="b" anchorCtr="0" compatLnSpc="1">
            <a:prstTxWarp prst="textNoShape">
              <a:avLst/>
            </a:prstTxWarp>
          </a:bodyPr>
          <a:lstStyle>
            <a:lvl1pPr algn="r" defTabSz="912664">
              <a:defRPr sz="1200" smtClean="0"/>
            </a:lvl1pPr>
          </a:lstStyle>
          <a:p>
            <a:pPr>
              <a:defRPr/>
            </a:pPr>
            <a:fld id="{99ABB6FC-0291-4736-AD1E-42B014B12DA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21774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ABB6FC-0291-4736-AD1E-42B014B12DA8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4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tiff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2245667"/>
              </p:ext>
            </p:extLst>
          </p:nvPr>
        </p:nvGraphicFramePr>
        <p:xfrm>
          <a:off x="0" y="0"/>
          <a:ext cx="195385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95385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A5F346C3-1614-ECD2-2B02-F22B29099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09"/>
          <a:stretch/>
        </p:blipFill>
        <p:spPr>
          <a:xfrm>
            <a:off x="0" y="0"/>
            <a:ext cx="12242800" cy="6308725"/>
          </a:xfrm>
          <a:prstGeom prst="rect">
            <a:avLst/>
          </a:prstGeom>
        </p:spPr>
      </p:pic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38760C1B-2629-86F5-32CB-03C2EDC220B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55650" y="1943690"/>
            <a:ext cx="5365750" cy="1788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400"/>
              </a:lnSpc>
              <a:buFontTx/>
              <a:buNone/>
              <a:defRPr sz="40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00" indent="0">
              <a:buFontTx/>
              <a:buNone/>
              <a:defRPr sz="4000" baseline="0">
                <a:latin typeface="+mj-lt"/>
              </a:defRPr>
            </a:lvl2pPr>
            <a:lvl3pPr marL="532800" indent="0">
              <a:buFontTx/>
              <a:buNone/>
              <a:defRPr sz="4000" baseline="0">
                <a:latin typeface="+mj-lt"/>
              </a:defRPr>
            </a:lvl3pPr>
            <a:lvl4pPr marL="1258887" indent="0">
              <a:buFontTx/>
              <a:buNone/>
              <a:defRPr sz="4000" baseline="0">
                <a:latin typeface="+mj-lt"/>
              </a:defRPr>
            </a:lvl4pPr>
            <a:lvl5pPr marL="1612900" indent="0">
              <a:buFontTx/>
              <a:buNone/>
              <a:defRPr sz="4000" baseline="0">
                <a:latin typeface="+mj-lt"/>
              </a:defRPr>
            </a:lvl5pPr>
          </a:lstStyle>
          <a:p>
            <a:r>
              <a:rPr lang="de-DE" sz="4000" dirty="0">
                <a:solidFill>
                  <a:schemeClr val="bg1"/>
                </a:solidFill>
              </a:rPr>
              <a:t>High </a:t>
            </a:r>
            <a:r>
              <a:rPr lang="de-DE" sz="4000" dirty="0" err="1">
                <a:solidFill>
                  <a:schemeClr val="bg1"/>
                </a:solidFill>
              </a:rPr>
              <a:t>performance</a:t>
            </a:r>
            <a:r>
              <a:rPr lang="de-DE" sz="4000" dirty="0">
                <a:solidFill>
                  <a:schemeClr val="bg1"/>
                </a:solidFill>
              </a:rPr>
              <a:t> </a:t>
            </a:r>
            <a:br>
              <a:rPr lang="de-DE" sz="4000" dirty="0">
                <a:solidFill>
                  <a:schemeClr val="bg1"/>
                </a:solidFill>
              </a:rPr>
            </a:br>
            <a:r>
              <a:rPr lang="de-DE" sz="4000" dirty="0" err="1">
                <a:solidFill>
                  <a:schemeClr val="bg1"/>
                </a:solidFill>
              </a:rPr>
              <a:t>computers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for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science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br>
              <a:rPr lang="de-DE" sz="4000" dirty="0">
                <a:solidFill>
                  <a:schemeClr val="bg1"/>
                </a:solidFill>
              </a:rPr>
            </a:br>
            <a:r>
              <a:rPr lang="de-DE" sz="4000" dirty="0" err="1">
                <a:solidFill>
                  <a:schemeClr val="bg1"/>
                </a:solidFill>
              </a:rPr>
              <a:t>and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research</a:t>
            </a:r>
            <a:r>
              <a:rPr lang="de-DE" sz="4000" dirty="0">
                <a:solidFill>
                  <a:schemeClr val="bg1"/>
                </a:solidFill>
              </a:rPr>
              <a:t> 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42911A2-ACF0-70CF-4B0C-E057D8D4D67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4454726"/>
            <a:ext cx="10866921" cy="130695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07CD16F-1B4C-C00B-FECA-11A1CB542B5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90" y="4505261"/>
            <a:ext cx="2951729" cy="128509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67B6E42-947A-0665-A375-688EDB8E080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362086"/>
            <a:ext cx="12188825" cy="501518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EC22072-B3F6-18A0-7333-C5A48E3D84B7}"/>
              </a:ext>
            </a:extLst>
          </p:cNvPr>
          <p:cNvPicPr/>
          <p:nvPr userDrawn="1"/>
        </p:nvPicPr>
        <p:blipFill>
          <a:blip r:embed="rId9"/>
          <a:stretch/>
        </p:blipFill>
        <p:spPr>
          <a:xfrm>
            <a:off x="7259623" y="6421920"/>
            <a:ext cx="920241" cy="384679"/>
          </a:xfrm>
          <a:prstGeom prst="rect">
            <a:avLst/>
          </a:prstGeom>
          <a:ln>
            <a:noFill/>
          </a:ln>
        </p:spPr>
      </p:pic>
      <p:pic>
        <p:nvPicPr>
          <p:cNvPr id="4" name="Picture 6" descr="DFG, German Research Foundation">
            <a:extLst>
              <a:ext uri="{FF2B5EF4-FFF2-40B4-BE49-F238E27FC236}">
                <a16:creationId xmlns:a16="http://schemas.microsoft.com/office/drawing/2014/main" id="{A3B72E67-1C53-7159-A501-7F1CE0DAEF8B}"/>
              </a:ext>
            </a:extLst>
          </p:cNvPr>
          <p:cNvPicPr/>
          <p:nvPr userDrawn="1"/>
        </p:nvPicPr>
        <p:blipFill>
          <a:blip r:embed="rId10"/>
          <a:stretch/>
        </p:blipFill>
        <p:spPr>
          <a:xfrm>
            <a:off x="5233459" y="6530089"/>
            <a:ext cx="1838495" cy="232511"/>
          </a:xfrm>
          <a:prstGeom prst="rect">
            <a:avLst/>
          </a:prstGeom>
          <a:ln>
            <a:noFill/>
          </a:ln>
        </p:spPr>
      </p:pic>
      <p:pic>
        <p:nvPicPr>
          <p:cNvPr id="5" name="Picture 12" descr="IAM - Werkstoffkunde Kooperationen - GRK 2561">
            <a:extLst>
              <a:ext uri="{FF2B5EF4-FFF2-40B4-BE49-F238E27FC236}">
                <a16:creationId xmlns:a16="http://schemas.microsoft.com/office/drawing/2014/main" id="{262F333E-B52E-4C75-1178-4652A4A1CD91}"/>
              </a:ext>
            </a:extLst>
          </p:cNvPr>
          <p:cNvPicPr/>
          <p:nvPr userDrawn="1"/>
        </p:nvPicPr>
        <p:blipFill>
          <a:blip r:embed="rId11"/>
          <a:stretch/>
        </p:blipFill>
        <p:spPr>
          <a:xfrm>
            <a:off x="4311034" y="6381750"/>
            <a:ext cx="640750" cy="380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831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60" userDrawn="1">
          <p15:clr>
            <a:srgbClr val="FBAE40"/>
          </p15:clr>
        </p15:guide>
        <p15:guide id="4" pos="7220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  <p15:guide id="6" orient="horz" pos="2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82AC6605-649E-2FF0-8502-CE4675389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9038" y="1398088"/>
            <a:ext cx="11773824" cy="992215"/>
          </a:xfrm>
          <a:prstGeom prst="rect">
            <a:avLst/>
          </a:prstGeom>
        </p:spPr>
        <p:txBody>
          <a:bodyPr numCol="2"/>
          <a:lstStyle>
            <a:lvl1pPr marL="0" indent="0">
              <a:lnSpc>
                <a:spcPts val="2401"/>
              </a:lnSpc>
              <a:buFontTx/>
              <a:buNone/>
              <a:defRPr lang="de-DE" sz="1400" b="0" i="0" u="none" strike="noStrike" smtClean="0">
                <a:effectLst/>
              </a:defRPr>
            </a:lvl1pPr>
            <a:lvl2pPr marL="266780" indent="0">
              <a:lnSpc>
                <a:spcPts val="2401"/>
              </a:lnSpc>
              <a:buFontTx/>
              <a:buNone/>
              <a:defRPr sz="200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32960" indent="0">
              <a:lnSpc>
                <a:spcPts val="2401"/>
              </a:lnSpc>
              <a:buFontTx/>
              <a:buNone/>
              <a:defRPr sz="200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59265" indent="0">
              <a:lnSpc>
                <a:spcPts val="2401"/>
              </a:lnSpc>
              <a:buFontTx/>
              <a:buNone/>
              <a:defRPr sz="200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13384" indent="0">
              <a:lnSpc>
                <a:spcPts val="2401"/>
              </a:lnSpc>
              <a:buFontTx/>
              <a:buNone/>
              <a:defRPr sz="200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lang="de-DE" dirty="0">
                <a:effectLst/>
                <a:latin typeface="Arial" panose="020B0604020202020204" pitchFamily="34" charset="0"/>
              </a:rPr>
              <a:t>Short </a:t>
            </a:r>
            <a:r>
              <a:rPr lang="de-DE" dirty="0" err="1">
                <a:effectLst/>
                <a:latin typeface="Arial" panose="020B0604020202020204" pitchFamily="34" charset="0"/>
              </a:rPr>
              <a:t>description</a:t>
            </a:r>
            <a:r>
              <a:rPr lang="de-DE" dirty="0">
                <a:effectLst/>
                <a:latin typeface="Arial" panose="020B0604020202020204" pitchFamily="34" charset="0"/>
              </a:rPr>
              <a:t>....RWTH Aachen University and Technical University Darmstadt </a:t>
            </a:r>
            <a:r>
              <a:rPr lang="de-DE" dirty="0" err="1">
                <a:effectLst/>
                <a:latin typeface="Arial" panose="020B0604020202020204" pitchFamily="34" charset="0"/>
              </a:rPr>
              <a:t>join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forces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to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combine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their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strengths</a:t>
            </a:r>
            <a:r>
              <a:rPr lang="de-DE" dirty="0">
                <a:effectLst/>
                <a:latin typeface="Arial" panose="020B0604020202020204" pitchFamily="34" charset="0"/>
              </a:rPr>
              <a:t> in HPC </a:t>
            </a:r>
            <a:r>
              <a:rPr lang="de-DE" dirty="0" err="1">
                <a:effectLst/>
                <a:latin typeface="Arial" panose="020B0604020202020204" pitchFamily="34" charset="0"/>
              </a:rPr>
              <a:t>applications</a:t>
            </a:r>
            <a:r>
              <a:rPr lang="de-DE" dirty="0">
                <a:effectLst/>
                <a:latin typeface="Arial" panose="020B0604020202020204" pitchFamily="34" charset="0"/>
              </a:rPr>
              <a:t>, </a:t>
            </a:r>
            <a:r>
              <a:rPr lang="de-DE" dirty="0" err="1">
                <a:effectLst/>
                <a:latin typeface="Arial" panose="020B0604020202020204" pitchFamily="34" charset="0"/>
              </a:rPr>
              <a:t>algorithms</a:t>
            </a:r>
            <a:r>
              <a:rPr lang="de-DE" dirty="0">
                <a:effectLst/>
                <a:latin typeface="Arial" panose="020B0604020202020204" pitchFamily="34" charset="0"/>
              </a:rPr>
              <a:t> and </a:t>
            </a:r>
            <a:r>
              <a:rPr lang="de-DE" dirty="0" err="1">
                <a:effectLst/>
                <a:latin typeface="Arial" panose="020B0604020202020204" pitchFamily="34" charset="0"/>
              </a:rPr>
              <a:t>methods</a:t>
            </a:r>
            <a:r>
              <a:rPr lang="de-DE" dirty="0">
                <a:effectLst/>
                <a:latin typeface="Arial" panose="020B0604020202020204" pitchFamily="34" charset="0"/>
              </a:rPr>
              <a:t>, and </a:t>
            </a:r>
            <a:r>
              <a:rPr lang="de-DE" dirty="0" err="1">
                <a:effectLst/>
                <a:latin typeface="Arial" panose="020B0604020202020204" pitchFamily="34" charset="0"/>
              </a:rPr>
              <a:t>the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efficient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use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of</a:t>
            </a:r>
            <a:r>
              <a:rPr lang="de-DE" dirty="0">
                <a:effectLst/>
                <a:latin typeface="Arial" panose="020B0604020202020204" pitchFamily="34" charset="0"/>
              </a:rPr>
              <a:t> HPC </a:t>
            </a:r>
            <a:r>
              <a:rPr lang="de-DE" dirty="0" err="1">
                <a:effectLst/>
                <a:latin typeface="Arial" panose="020B0604020202020204" pitchFamily="34" charset="0"/>
              </a:rPr>
              <a:t>hardware</a:t>
            </a:r>
            <a:r>
              <a:rPr lang="de-DE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de-DE" dirty="0" err="1">
                <a:effectLst/>
                <a:latin typeface="Arial" panose="020B0604020202020204" pitchFamily="34" charset="0"/>
              </a:rPr>
              <a:t>Our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goal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is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to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create</a:t>
            </a:r>
            <a:r>
              <a:rPr lang="de-DE" dirty="0">
                <a:effectLst/>
                <a:latin typeface="Arial" panose="020B0604020202020204" pitchFamily="34" charset="0"/>
              </a:rPr>
              <a:t> an </a:t>
            </a:r>
            <a:r>
              <a:rPr lang="de-DE" dirty="0" err="1">
                <a:effectLst/>
                <a:latin typeface="Arial" panose="020B0604020202020204" pitchFamily="34" charset="0"/>
              </a:rPr>
              <a:t>ecosystem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combining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best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practices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of</a:t>
            </a:r>
            <a:r>
              <a:rPr lang="de-DE" dirty="0">
                <a:effectLst/>
                <a:latin typeface="Arial" panose="020B0604020202020204" pitchFamily="34" charset="0"/>
              </a:rPr>
              <a:t> HPC and </a:t>
            </a:r>
            <a:r>
              <a:rPr lang="de-DE" dirty="0" err="1">
                <a:effectLst/>
                <a:latin typeface="Arial" panose="020B0604020202020204" pitchFamily="34" charset="0"/>
              </a:rPr>
              <a:t>research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data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management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to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address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questions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that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are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of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central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importance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for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technical</a:t>
            </a:r>
            <a:r>
              <a:rPr lang="de-DE" dirty="0"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effectLst/>
                <a:latin typeface="Arial" panose="020B0604020202020204" pitchFamily="34" charset="0"/>
              </a:rPr>
              <a:t>developments</a:t>
            </a:r>
            <a:r>
              <a:rPr lang="de-DE" dirty="0">
                <a:effectLst/>
                <a:latin typeface="Arial" panose="020B0604020202020204" pitchFamily="34" charset="0"/>
              </a:rPr>
              <a:t> in </a:t>
            </a:r>
            <a:r>
              <a:rPr lang="de-DE" dirty="0" err="1">
                <a:effectLst/>
                <a:latin typeface="Arial" panose="020B0604020202020204" pitchFamily="34" charset="0"/>
              </a:rPr>
              <a:t>economy</a:t>
            </a:r>
            <a:r>
              <a:rPr lang="de-DE" dirty="0">
                <a:effectLst/>
                <a:latin typeface="Arial" panose="020B0604020202020204" pitchFamily="34" charset="0"/>
              </a:rPr>
              <a:t> and </a:t>
            </a:r>
            <a:r>
              <a:rPr lang="de-DE" dirty="0" err="1">
                <a:effectLst/>
                <a:latin typeface="Arial" panose="020B0604020202020204" pitchFamily="34" charset="0"/>
              </a:rPr>
              <a:t>society</a:t>
            </a:r>
            <a:r>
              <a:rPr lang="de-DE" dirty="0">
                <a:effectLst/>
                <a:latin typeface="Arial" panose="020B0604020202020204" pitchFamily="34" charset="0"/>
              </a:rPr>
              <a:t>. 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333E658E-D2A2-2646-5AC0-BCD306106C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526" y="393015"/>
            <a:ext cx="5366598" cy="9922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1"/>
              </a:lnSpc>
              <a:buFontTx/>
              <a:buNone/>
              <a:defRPr sz="360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80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32960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59265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13384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Poster Titel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DA139BD-FAC4-9FAF-1633-F25537DEF5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8527" y="2654682"/>
            <a:ext cx="4519795" cy="3430809"/>
          </a:xfrm>
          <a:prstGeom prst="rect">
            <a:avLst/>
          </a:prstGeom>
        </p:spPr>
        <p:txBody>
          <a:bodyPr/>
          <a:lstStyle>
            <a:lvl4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A237F08C-063B-BDC4-595C-41F10CC0B8EA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259623" y="6421920"/>
            <a:ext cx="920241" cy="384679"/>
          </a:xfrm>
          <a:prstGeom prst="rect">
            <a:avLst/>
          </a:prstGeom>
          <a:ln>
            <a:noFill/>
          </a:ln>
        </p:spPr>
      </p:pic>
      <p:pic>
        <p:nvPicPr>
          <p:cNvPr id="3" name="Picture 6" descr="DFG, German Research Foundation">
            <a:extLst>
              <a:ext uri="{FF2B5EF4-FFF2-40B4-BE49-F238E27FC236}">
                <a16:creationId xmlns:a16="http://schemas.microsoft.com/office/drawing/2014/main" id="{29F1C25C-4609-848C-E79F-33D268311588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233459" y="6530089"/>
            <a:ext cx="1838495" cy="232511"/>
          </a:xfrm>
          <a:prstGeom prst="rect">
            <a:avLst/>
          </a:prstGeom>
          <a:ln>
            <a:noFill/>
          </a:ln>
        </p:spPr>
      </p:pic>
      <p:pic>
        <p:nvPicPr>
          <p:cNvPr id="4" name="Picture 12" descr="IAM - Werkstoffkunde Kooperationen - GRK 2561">
            <a:extLst>
              <a:ext uri="{FF2B5EF4-FFF2-40B4-BE49-F238E27FC236}">
                <a16:creationId xmlns:a16="http://schemas.microsoft.com/office/drawing/2014/main" id="{9F1DDF6C-F447-9803-BB16-3BB4AA26E048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4311034" y="6381750"/>
            <a:ext cx="640750" cy="380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037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ildmo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548B2707-3045-62AA-F985-B855D3B295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9382" y="393015"/>
            <a:ext cx="5366598" cy="9922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1"/>
              </a:lnSpc>
              <a:buFontTx/>
              <a:buNone/>
              <a:defRPr sz="360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80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32960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59265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13384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Poster Titel</a:t>
            </a:r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ABC204DC-FD08-9261-78AD-8D5074049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8527" y="1662468"/>
            <a:ext cx="3993059" cy="1343491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F538B3C6-A626-299F-2D62-5BD036850C0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8526" y="3028538"/>
            <a:ext cx="3993059" cy="1343491"/>
          </a:xfrm>
          <a:prstGeom prst="rect">
            <a:avLst/>
          </a:prstGeom>
          <a:solidFill>
            <a:schemeClr val="accent6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F1332499-9371-D7FC-D892-997A6958032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58526" y="4372029"/>
            <a:ext cx="3993059" cy="18500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FB013305-C9B3-D05D-BE7A-AFE5BF7AFE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83837" y="1662468"/>
            <a:ext cx="4224287" cy="4559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74BF76DF-9833-3CA0-0CA5-58A54F7B00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640376" y="1662468"/>
            <a:ext cx="3299378" cy="1343491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74975B6E-B9F6-03DE-6269-D90542EB15D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640375" y="3028538"/>
            <a:ext cx="3299378" cy="1343491"/>
          </a:xfrm>
          <a:prstGeom prst="rect">
            <a:avLst/>
          </a:prstGeom>
          <a:solidFill>
            <a:schemeClr val="accent6"/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F4B7FCE2-0F1B-4F80-BA3F-8BC4AE6CB13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640375" y="4372029"/>
            <a:ext cx="3299378" cy="18500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618661DF-AF65-98D7-45D6-31B0869E3384}"/>
              </a:ext>
            </a:extLst>
          </p:cNvPr>
          <p:cNvCxnSpPr/>
          <p:nvPr userDrawn="1"/>
        </p:nvCxnSpPr>
        <p:spPr bwMode="auto">
          <a:xfrm>
            <a:off x="4283837" y="2046693"/>
            <a:ext cx="4224287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rgbClr val="90B1D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3" name="Picture 3">
            <a:extLst>
              <a:ext uri="{FF2B5EF4-FFF2-40B4-BE49-F238E27FC236}">
                <a16:creationId xmlns:a16="http://schemas.microsoft.com/office/drawing/2014/main" id="{4EAC01BE-91CA-BCEC-A58B-3F45687DBAD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259623" y="6421920"/>
            <a:ext cx="920241" cy="384679"/>
          </a:xfrm>
          <a:prstGeom prst="rect">
            <a:avLst/>
          </a:prstGeom>
          <a:ln>
            <a:noFill/>
          </a:ln>
        </p:spPr>
      </p:pic>
      <p:pic>
        <p:nvPicPr>
          <p:cNvPr id="4" name="Picture 6" descr="DFG, German Research Foundation">
            <a:extLst>
              <a:ext uri="{FF2B5EF4-FFF2-40B4-BE49-F238E27FC236}">
                <a16:creationId xmlns:a16="http://schemas.microsoft.com/office/drawing/2014/main" id="{2B218F35-574A-B860-69EB-667380E776BD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233459" y="6530089"/>
            <a:ext cx="1838495" cy="232511"/>
          </a:xfrm>
          <a:prstGeom prst="rect">
            <a:avLst/>
          </a:prstGeom>
          <a:ln>
            <a:noFill/>
          </a:ln>
        </p:spPr>
      </p:pic>
      <p:pic>
        <p:nvPicPr>
          <p:cNvPr id="5" name="Picture 12" descr="IAM - Werkstoffkunde Kooperationen - GRK 2561">
            <a:extLst>
              <a:ext uri="{FF2B5EF4-FFF2-40B4-BE49-F238E27FC236}">
                <a16:creationId xmlns:a16="http://schemas.microsoft.com/office/drawing/2014/main" id="{02E35FB6-FA50-1B4A-3172-667CCCF66BB2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4311034" y="6381750"/>
            <a:ext cx="640750" cy="380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767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5">
            <a:extLst>
              <a:ext uri="{FF2B5EF4-FFF2-40B4-BE49-F238E27FC236}">
                <a16:creationId xmlns:a16="http://schemas.microsoft.com/office/drawing/2014/main" id="{43A017F5-3F81-861E-2105-6292E9A340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8212" y="393015"/>
            <a:ext cx="5366598" cy="9922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201"/>
              </a:lnSpc>
              <a:buFontTx/>
              <a:buNone/>
              <a:defRPr sz="360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6780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32960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59265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13384" indent="0">
              <a:lnSpc>
                <a:spcPts val="4201"/>
              </a:lnSpc>
              <a:buFontTx/>
              <a:buNone/>
              <a:defRPr sz="3601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Poster Titel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A5128FC-D616-91D6-DE50-619344E9C19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259623" y="6421920"/>
            <a:ext cx="920241" cy="384679"/>
          </a:xfrm>
          <a:prstGeom prst="rect">
            <a:avLst/>
          </a:prstGeom>
          <a:ln>
            <a:noFill/>
          </a:ln>
        </p:spPr>
      </p:pic>
      <p:pic>
        <p:nvPicPr>
          <p:cNvPr id="4" name="Picture 6" descr="DFG, German Research Foundation">
            <a:extLst>
              <a:ext uri="{FF2B5EF4-FFF2-40B4-BE49-F238E27FC236}">
                <a16:creationId xmlns:a16="http://schemas.microsoft.com/office/drawing/2014/main" id="{EE910131-4C7F-0E51-851D-2FDEB7EBBF8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233459" y="6530089"/>
            <a:ext cx="1838495" cy="232511"/>
          </a:xfrm>
          <a:prstGeom prst="rect">
            <a:avLst/>
          </a:prstGeom>
          <a:ln>
            <a:noFill/>
          </a:ln>
        </p:spPr>
      </p:pic>
      <p:pic>
        <p:nvPicPr>
          <p:cNvPr id="5" name="Picture 12" descr="IAM - Werkstoffkunde Kooperationen - GRK 2561">
            <a:extLst>
              <a:ext uri="{FF2B5EF4-FFF2-40B4-BE49-F238E27FC236}">
                <a16:creationId xmlns:a16="http://schemas.microsoft.com/office/drawing/2014/main" id="{0CD3F99A-BF23-5744-6C34-8D5FF0E6245E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4311034" y="6381750"/>
            <a:ext cx="640750" cy="380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229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15801846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270" imgH="270" progId="TCLayout.ActiveDocument.1">
                  <p:embed/>
                </p:oleObj>
              </mc:Choice>
              <mc:Fallback>
                <p:oleObj name="think-cell Folie" r:id="rId7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F332A72B-24C4-B144-7642-221CB3312B6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lum bright="40000" contrast="40000"/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890" y="2015175"/>
            <a:ext cx="3623945" cy="430180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8B613AC-325A-3BBA-CD40-DA2C56E5205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0" r:id="rId2"/>
    <p:sldLayoutId id="2147483711" r:id="rId3"/>
    <p:sldLayoutId id="2147483681" r:id="rId4"/>
  </p:sldLayoutIdLst>
  <p:txStyles>
    <p:titleStyle>
      <a:lvl1pPr algn="l" defTabSz="1043301" rtl="0" eaLnBrk="1" fontAlgn="base" hangingPunct="1">
        <a:spcBef>
          <a:spcPct val="0"/>
        </a:spcBef>
        <a:spcAft>
          <a:spcPct val="0"/>
        </a:spcAft>
        <a:defRPr sz="1400" b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2pPr>
      <a:lvl3pPr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3pPr>
      <a:lvl4pPr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4pPr>
      <a:lvl5pPr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5pPr>
      <a:lvl6pPr marL="457337"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6pPr>
      <a:lvl7pPr marL="914674"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7pPr>
      <a:lvl8pPr marL="1372011"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8pPr>
      <a:lvl9pPr marL="1829349" algn="l" defTabSz="1043301" rtl="0" eaLnBrk="1" fontAlgn="base" hangingPunct="1">
        <a:spcBef>
          <a:spcPct val="0"/>
        </a:spcBef>
        <a:spcAft>
          <a:spcPct val="0"/>
        </a:spcAft>
        <a:defRPr sz="2201" b="1">
          <a:solidFill>
            <a:schemeClr val="tx2"/>
          </a:solidFill>
          <a:latin typeface="Arial" charset="0"/>
        </a:defRPr>
      </a:lvl9pPr>
    </p:titleStyle>
    <p:bodyStyle>
      <a:lvl1pPr marL="266780" indent="-266780" algn="l" rtl="0" eaLnBrk="1" fontAlgn="base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Wingdings 2" panose="05020102010507070707" pitchFamily="18" charset="2"/>
        <a:buChar char="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1973" indent="-265193" algn="l" rtl="0" eaLnBrk="1" fontAlgn="base" hangingPunct="1">
        <a:spcBef>
          <a:spcPts val="0"/>
        </a:spcBef>
        <a:spcAft>
          <a:spcPts val="1200"/>
        </a:spcAft>
        <a:buClr>
          <a:schemeClr val="tx1"/>
        </a:buClr>
        <a:buFont typeface="Arial" charset="0"/>
        <a:buChar char="–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799440" indent="-266480" algn="l" rtl="0" eaLnBrk="1" fontAlgn="base" hangingPunct="1">
        <a:spcBef>
          <a:spcPts val="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▪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432355" indent="-173090" algn="l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+mn-lt"/>
        </a:defRPr>
      </a:lvl4pPr>
      <a:lvl5pPr marL="1794413" indent="-181029" algn="l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+mn-lt"/>
        </a:defRPr>
      </a:lvl5pPr>
      <a:lvl6pPr marL="2251750" indent="-181029" algn="l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+mn-lt"/>
        </a:defRPr>
      </a:lvl6pPr>
      <a:lvl7pPr marL="2709087" indent="-181029" algn="l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+mn-lt"/>
        </a:defRPr>
      </a:lvl7pPr>
      <a:lvl8pPr marL="3166425" indent="-181029" algn="l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+mn-lt"/>
        </a:defRPr>
      </a:lvl8pPr>
      <a:lvl9pPr marL="3623762" indent="-181029" algn="l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tabLst>
          <a:tab pos="266780" algn="l"/>
          <a:tab pos="632015" algn="l"/>
          <a:tab pos="981369" algn="l"/>
        </a:tabLst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337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674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011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9349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686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4023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1360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8697" algn="l" defTabSz="91467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orient="horz" pos="3974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4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10934FB-9E55-6A4C-B837-07767F9BC7B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30440" y="2101390"/>
            <a:ext cx="9687555" cy="1376737"/>
          </a:xfrm>
          <a:prstGeom prst="rect">
            <a:avLst/>
          </a:prstGeo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sz="34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MACHINE LEARNING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34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FOR MATERIAL SCIENCE 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3" name="Inhaltsplatzhalter 1">
            <a:extLst>
              <a:ext uri="{FF2B5EF4-FFF2-40B4-BE49-F238E27FC236}">
                <a16:creationId xmlns:a16="http://schemas.microsoft.com/office/drawing/2014/main" id="{7DBCF50D-C53F-7E93-5A21-2457C0D5587E}"/>
              </a:ext>
            </a:extLst>
          </p:cNvPr>
          <p:cNvSpPr txBox="1">
            <a:spLocks/>
          </p:cNvSpPr>
          <p:nvPr/>
        </p:nvSpPr>
        <p:spPr>
          <a:xfrm>
            <a:off x="730440" y="3351097"/>
            <a:ext cx="9687555" cy="1020565"/>
          </a:xfrm>
          <a:prstGeom prst="rect">
            <a:avLst/>
          </a:prstGeom>
        </p:spPr>
        <p:txBody>
          <a:bodyPr/>
          <a:lstStyle>
            <a:lvl1pPr marL="266780" indent="-266780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Wingdings 2" panose="05020102010507070707" pitchFamily="18" charset="2"/>
              <a:buChar char="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1973" indent="-265193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charset="0"/>
              <a:buChar char="–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99440" indent="-266480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▪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32355" indent="-173090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4pPr>
            <a:lvl5pPr marL="1794413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5pPr>
            <a:lvl6pPr marL="2251750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6pPr>
            <a:lvl7pPr marL="2709087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7pPr>
            <a:lvl8pPr marL="3166425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8pPr>
            <a:lvl9pPr marL="3623762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GB" sz="2000" b="0" strike="noStrike" spc="-1" dirty="0">
                <a:solidFill>
                  <a:srgbClr val="FFFFFF"/>
                </a:solidFill>
                <a:latin typeface="Lexend"/>
                <a:ea typeface="Arial"/>
              </a:rPr>
              <a:t>Prof. Bai-Xiang Xu, Prof.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Lexend"/>
                <a:ea typeface="Arial"/>
              </a:rPr>
              <a:t>Karsten</a:t>
            </a:r>
            <a:r>
              <a:rPr lang="en-GB" sz="2000" b="0" strike="noStrike" spc="-1" dirty="0">
                <a:solidFill>
                  <a:srgbClr val="FFFFFF"/>
                </a:solidFill>
                <a:latin typeface="Lexend"/>
                <a:ea typeface="Arial"/>
              </a:rPr>
              <a:t> </a:t>
            </a:r>
            <a:r>
              <a:rPr lang="en-GB" sz="2000" b="0" strike="noStrike" spc="-1" dirty="0" err="1">
                <a:solidFill>
                  <a:srgbClr val="FFFFFF"/>
                </a:solidFill>
                <a:latin typeface="Lexend"/>
                <a:ea typeface="Arial"/>
              </a:rPr>
              <a:t>Albe</a:t>
            </a:r>
            <a:endParaRPr lang="en-US" sz="2000" spc="-1" dirty="0">
              <a:latin typeface="Arial"/>
              <a:ea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FFFFFF"/>
                </a:solidFill>
                <a:latin typeface="Lexend"/>
              </a:rPr>
              <a:t>Dr. Vasileios Karanikolas, Dr. </a:t>
            </a:r>
            <a:r>
              <a:rPr lang="en-GB" sz="2000" b="0" strike="noStrike" spc="-1" dirty="0">
                <a:solidFill>
                  <a:srgbClr val="FFFFFF"/>
                </a:solidFill>
                <a:latin typeface="Lexend"/>
                <a:ea typeface="Arial"/>
              </a:rPr>
              <a:t>Dilshod Durdiev</a:t>
            </a: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  <a:r>
              <a:rPr lang="en-US" sz="2000" spc="-1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lang="en-US" sz="20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-23.10.2024, online</a:t>
            </a: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0" indent="0">
              <a:spcAft>
                <a:spcPts val="1199"/>
              </a:spcAft>
              <a:buNone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AD73DC58-A541-C10A-57BB-1D38C048109A}"/>
              </a:ext>
            </a:extLst>
          </p:cNvPr>
          <p:cNvSpPr txBox="1">
            <a:spLocks/>
          </p:cNvSpPr>
          <p:nvPr/>
        </p:nvSpPr>
        <p:spPr>
          <a:xfrm>
            <a:off x="730440" y="1298961"/>
            <a:ext cx="9687555" cy="612168"/>
          </a:xfrm>
          <a:prstGeom prst="rect">
            <a:avLst/>
          </a:prstGeom>
        </p:spPr>
        <p:txBody>
          <a:bodyPr/>
          <a:lstStyle>
            <a:lvl1pPr marL="266780" indent="-266780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Wingdings 2" panose="05020102010507070707" pitchFamily="18" charset="2"/>
              <a:buChar char="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1973" indent="-265193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charset="0"/>
              <a:buChar char="–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99440" indent="-266480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▪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32355" indent="-173090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4pPr>
            <a:lvl5pPr marL="1794413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5pPr>
            <a:lvl6pPr marL="2251750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6pPr>
            <a:lvl7pPr marL="2709087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7pPr>
            <a:lvl8pPr marL="3166425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8pPr>
            <a:lvl9pPr marL="3623762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ts val="4399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spc="-1" dirty="0">
                <a:solidFill>
                  <a:srgbClr val="FFFFFF"/>
                </a:solidFill>
                <a:latin typeface="Arial"/>
                <a:ea typeface="Arial"/>
              </a:rPr>
              <a:t>October 19-21, </a:t>
            </a:r>
            <a:r>
              <a:rPr lang="en-US" sz="24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2026, online</a:t>
            </a:r>
            <a:endParaRPr lang="en-US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3617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7D87B1-6C27-4EAE-7C24-7F59D73BC8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7503" y="432385"/>
            <a:ext cx="8029129" cy="647220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Agenda</a:t>
            </a:r>
            <a:endParaRPr lang="en-US" sz="2800" noProof="0" dirty="0">
              <a:solidFill>
                <a:schemeClr val="bg1"/>
              </a:solidFill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4A9FD17-243A-633C-7377-5E5631C8F84A}"/>
              </a:ext>
            </a:extLst>
          </p:cNvPr>
          <p:cNvSpPr txBox="1">
            <a:spLocks/>
          </p:cNvSpPr>
          <p:nvPr/>
        </p:nvSpPr>
        <p:spPr>
          <a:xfrm>
            <a:off x="1007503" y="983769"/>
            <a:ext cx="4222043" cy="922098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ts val="4201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Tx/>
              <a:buNone/>
              <a:tabLst>
                <a:tab pos="266780" algn="l"/>
                <a:tab pos="632015" algn="l"/>
                <a:tab pos="981369" algn="l"/>
              </a:tabLst>
              <a:defRPr sz="360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66780" indent="0" algn="l" rtl="0" eaLnBrk="1" fontAlgn="base" hangingPunct="1">
              <a:lnSpc>
                <a:spcPts val="4201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Tx/>
              <a:buNone/>
              <a:tabLst>
                <a:tab pos="266780" algn="l"/>
                <a:tab pos="632015" algn="l"/>
                <a:tab pos="981369" algn="l"/>
              </a:tabLst>
              <a:defRPr sz="360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32960" indent="0" algn="l" rtl="0" eaLnBrk="1" fontAlgn="base" hangingPunct="1">
              <a:lnSpc>
                <a:spcPts val="4201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Tx/>
              <a:buNone/>
              <a:tabLst>
                <a:tab pos="266780" algn="l"/>
                <a:tab pos="632015" algn="l"/>
                <a:tab pos="981369" algn="l"/>
              </a:tabLst>
              <a:defRPr sz="360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59265" indent="0" algn="l" rtl="0" eaLnBrk="1" fontAlgn="base" hangingPunct="1">
              <a:lnSpc>
                <a:spcPts val="4201"/>
              </a:lnSpc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None/>
              <a:tabLst>
                <a:tab pos="266780" algn="l"/>
                <a:tab pos="632015" algn="l"/>
                <a:tab pos="981369" algn="l"/>
              </a:tabLst>
              <a:defRPr sz="360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613384" indent="0" algn="l" rtl="0" eaLnBrk="1" fontAlgn="base" hangingPunct="1">
              <a:lnSpc>
                <a:spcPts val="4201"/>
              </a:lnSpc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None/>
              <a:tabLst>
                <a:tab pos="266780" algn="l"/>
                <a:tab pos="632015" algn="l"/>
                <a:tab pos="981369" algn="l"/>
              </a:tabLst>
              <a:defRPr sz="360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251750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6pPr>
            <a:lvl7pPr marL="2709087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7pPr>
            <a:lvl8pPr marL="3166425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8pPr>
            <a:lvl9pPr marL="3623762" indent="-181029" algn="l" rtl="0" eaLnBrk="1" fontAlgn="base" hangingPunct="1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  <a:tabLst>
                <a:tab pos="266780" algn="l"/>
                <a:tab pos="632015" algn="l"/>
                <a:tab pos="981369" algn="l"/>
              </a:tabLst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strike="noStrike" spc="-1" noProof="0" dirty="0">
                <a:latin typeface="Arial"/>
                <a:ea typeface="Arial"/>
              </a:rPr>
              <a:t>MACHINE LEARNING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strike="noStrike" spc="-1" noProof="0" dirty="0">
                <a:latin typeface="Arial"/>
                <a:ea typeface="Arial"/>
              </a:rPr>
              <a:t>FOR MATERIAL SCIENCE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3405B6C-EBAC-1D0E-3F26-D7C023A23C1B}"/>
              </a:ext>
            </a:extLst>
          </p:cNvPr>
          <p:cNvSpPr/>
          <p:nvPr/>
        </p:nvSpPr>
        <p:spPr bwMode="auto">
          <a:xfrm>
            <a:off x="415676" y="2030201"/>
            <a:ext cx="4835927" cy="2921934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7543680-8D6C-3428-2194-7382F4CBFDD7}"/>
              </a:ext>
            </a:extLst>
          </p:cNvPr>
          <p:cNvSpPr txBox="1"/>
          <p:nvPr/>
        </p:nvSpPr>
        <p:spPr bwMode="auto">
          <a:xfrm>
            <a:off x="497984" y="2140317"/>
            <a:ext cx="48981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b="1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Oct</a:t>
            </a:r>
            <a:r>
              <a:rPr lang="en-US" sz="1800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b="1" spc="-1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19</a:t>
            </a:r>
            <a:r>
              <a:rPr lang="en-US" sz="1800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2026 / Day 1 / </a:t>
            </a:r>
            <a:r>
              <a:rPr lang="en-US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Lecture </a:t>
            </a:r>
            <a:r>
              <a:rPr lang="en-US" sz="1200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(Prof. Bai-Xiang Xu)</a:t>
            </a:r>
            <a:endParaRPr lang="en-US" sz="1200" b="0" strike="noStrike" spc="-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stomShape 3">
            <a:extLst>
              <a:ext uri="{FF2B5EF4-FFF2-40B4-BE49-F238E27FC236}">
                <a16:creationId xmlns:a16="http://schemas.microsoft.com/office/drawing/2014/main" id="{FB840A1B-3BD2-170C-87D3-A186337318F9}"/>
              </a:ext>
            </a:extLst>
          </p:cNvPr>
          <p:cNvSpPr/>
          <p:nvPr/>
        </p:nvSpPr>
        <p:spPr>
          <a:xfrm>
            <a:off x="675570" y="2509649"/>
            <a:ext cx="4316830" cy="21852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  <a:ea typeface="Arial"/>
              </a:rPr>
              <a:t>0</a:t>
            </a: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9:00 am	Motivation and examples of machine 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	learning (ML) in material science (MS) </a:t>
            </a:r>
            <a:r>
              <a:rPr lang="en-US" sz="1200" spc="-1" noProof="0" dirty="0">
                <a:latin typeface="Arial"/>
              </a:rPr>
              <a:t>(</a:t>
            </a:r>
            <a:r>
              <a:rPr lang="en-US" sz="1200" spc="-1" noProof="0" dirty="0">
                <a:solidFill>
                  <a:srgbClr val="FF0000"/>
                </a:solidFill>
                <a:latin typeface="Arial"/>
              </a:rPr>
              <a:t>Lecture</a:t>
            </a:r>
            <a:r>
              <a:rPr lang="en-US" sz="1200" spc="-1" noProof="0" dirty="0">
                <a:latin typeface="Arial"/>
              </a:rPr>
              <a:t>)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10:10 am	Break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10.20 am	Fundamental of machine learning, </a:t>
            </a:r>
            <a:br>
              <a:rPr lang="en-US" sz="1200" spc="-1" noProof="0" dirty="0">
                <a:solidFill>
                  <a:srgbClr val="000000"/>
                </a:solidFill>
                <a:latin typeface="Arial"/>
              </a:rPr>
            </a:b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	shallow learning vs. deep learning (DL),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              	convolutional neural network (CNN) </a:t>
            </a:r>
            <a:r>
              <a:rPr lang="en-US" sz="1200" spc="-1" noProof="0" dirty="0">
                <a:latin typeface="Arial"/>
              </a:rPr>
              <a:t>(</a:t>
            </a:r>
            <a:r>
              <a:rPr lang="en-US" sz="1200" spc="-1" noProof="0" dirty="0">
                <a:solidFill>
                  <a:srgbClr val="FF0000"/>
                </a:solidFill>
                <a:latin typeface="Arial"/>
              </a:rPr>
              <a:t>Lecture</a:t>
            </a:r>
            <a:r>
              <a:rPr lang="en-US" sz="1200" spc="-1" noProof="0" dirty="0">
                <a:latin typeface="Arial"/>
              </a:rPr>
              <a:t>)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11.30 am 	Break</a:t>
            </a:r>
          </a:p>
          <a:p>
            <a:pPr marL="360"/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11.40 am	Gaussian process (GP), Bayesian optimization</a:t>
            </a:r>
          </a:p>
          <a:p>
            <a:pPr marL="360"/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                     (BO), microstructure descriptors </a:t>
            </a:r>
            <a:r>
              <a:rPr lang="en-US" sz="1200" spc="-1" noProof="0" dirty="0">
                <a:latin typeface="Arial"/>
              </a:rPr>
              <a:t>(</a:t>
            </a:r>
            <a:r>
              <a:rPr lang="en-US" sz="1200" spc="-1" noProof="0" dirty="0">
                <a:solidFill>
                  <a:srgbClr val="FF0000"/>
                </a:solidFill>
                <a:latin typeface="Arial"/>
              </a:rPr>
              <a:t>Lecture</a:t>
            </a:r>
            <a:r>
              <a:rPr lang="en-US" sz="1200" spc="-1" noProof="0" dirty="0">
                <a:latin typeface="Arial"/>
              </a:rPr>
              <a:t>)</a:t>
            </a:r>
          </a:p>
          <a:p>
            <a:pPr marL="360"/>
            <a:r>
              <a:rPr lang="en-US" sz="1200" spc="-1" noProof="0" dirty="0">
                <a:latin typeface="Arial"/>
              </a:rPr>
              <a:t>12:50 pm       </a:t>
            </a: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Q&amp;A and feedback round on lecture sessions</a:t>
            </a:r>
          </a:p>
          <a:p>
            <a:pPr marL="360">
              <a:lnSpc>
                <a:spcPct val="100000"/>
              </a:lnSpc>
            </a:pPr>
            <a:endParaRPr lang="en-US" sz="1200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F5729D6-51F0-FD4B-0EE8-673B864EE769}"/>
              </a:ext>
            </a:extLst>
          </p:cNvPr>
          <p:cNvSpPr/>
          <p:nvPr/>
        </p:nvSpPr>
        <p:spPr bwMode="auto">
          <a:xfrm>
            <a:off x="5251605" y="1109513"/>
            <a:ext cx="6577228" cy="2345482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3063FCA-CCDD-6700-9EA0-16E7AA1FB38E}"/>
              </a:ext>
            </a:extLst>
          </p:cNvPr>
          <p:cNvSpPr txBox="1"/>
          <p:nvPr/>
        </p:nvSpPr>
        <p:spPr bwMode="auto">
          <a:xfrm>
            <a:off x="5302975" y="1186677"/>
            <a:ext cx="60977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Oct 20</a:t>
            </a:r>
            <a:r>
              <a:rPr lang="en-US" sz="1800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2026 / Day 2 / Hands-on </a:t>
            </a:r>
            <a:r>
              <a:rPr lang="en-US" sz="1200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(Dr. Dilshod Durdiev)</a:t>
            </a:r>
            <a:endParaRPr lang="en-US" sz="1200" b="1" strike="noStrike" spc="-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stomShape 3">
            <a:extLst>
              <a:ext uri="{FF2B5EF4-FFF2-40B4-BE49-F238E27FC236}">
                <a16:creationId xmlns:a16="http://schemas.microsoft.com/office/drawing/2014/main" id="{D81502DD-1DC3-B4BC-7E6C-5D0054AEA0F4}"/>
              </a:ext>
            </a:extLst>
          </p:cNvPr>
          <p:cNvSpPr/>
          <p:nvPr/>
        </p:nvSpPr>
        <p:spPr>
          <a:xfrm>
            <a:off x="5474030" y="1567269"/>
            <a:ext cx="5978027" cy="16312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marL="360">
              <a:lnSpc>
                <a:spcPct val="100000"/>
              </a:lnSpc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09.00 am      Short refresher on Python and Introduction to </a:t>
            </a:r>
            <a:r>
              <a:rPr lang="en-US" sz="1200" spc="-1" noProof="0" dirty="0" err="1">
                <a:solidFill>
                  <a:srgbClr val="000000"/>
                </a:solidFill>
                <a:latin typeface="Arial"/>
              </a:rPr>
              <a:t>PyTorch</a:t>
            </a: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 	</a:t>
            </a:r>
          </a:p>
          <a:p>
            <a:pPr marL="360">
              <a:lnSpc>
                <a:spcPct val="100000"/>
              </a:lnSpc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                     Fitting the Sine function with a polynomial (</a:t>
            </a:r>
            <a:r>
              <a:rPr lang="en-US" sz="1200" spc="-1" noProof="0" dirty="0">
                <a:solidFill>
                  <a:srgbClr val="FF0000"/>
                </a:solidFill>
                <a:latin typeface="Arial"/>
              </a:rPr>
              <a:t>Hands-on</a:t>
            </a: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) 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10.10 am	Break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10.20 am	Convolutional Neural Network (CNN) for predicting thermal conductivity of 	composites (</a:t>
            </a:r>
            <a:r>
              <a:rPr lang="en-US" sz="1200" spc="-1" noProof="0" dirty="0">
                <a:solidFill>
                  <a:srgbClr val="FF0000"/>
                </a:solidFill>
                <a:latin typeface="Arial"/>
              </a:rPr>
              <a:t>Hands-on</a:t>
            </a: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) 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11.30 am	Break</a:t>
            </a:r>
          </a:p>
          <a:p>
            <a:pPr marL="360"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11.40 pm	Gaussian Process (GP) and Bayesian Optimization (BO) ) (</a:t>
            </a:r>
            <a:r>
              <a:rPr lang="en-US" sz="1200" spc="-1" noProof="0" dirty="0">
                <a:solidFill>
                  <a:srgbClr val="FF0000"/>
                </a:solidFill>
                <a:latin typeface="Arial"/>
              </a:rPr>
              <a:t>Hands-on</a:t>
            </a: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) </a:t>
            </a:r>
          </a:p>
          <a:p>
            <a:pPr marL="360">
              <a:lnSpc>
                <a:spcPct val="100000"/>
              </a:lnSpc>
              <a:spcAft>
                <a:spcPts val="150"/>
              </a:spcAft>
            </a:pPr>
            <a:r>
              <a:rPr lang="en-US" sz="1200" spc="-1" noProof="0" dirty="0">
                <a:solidFill>
                  <a:srgbClr val="000000"/>
                </a:solidFill>
                <a:latin typeface="Arial"/>
              </a:rPr>
              <a:t>12.55 pm 	Q&amp;A and short feedback round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5BD3E7A-BC46-130F-67A1-0A836019E717}"/>
              </a:ext>
            </a:extLst>
          </p:cNvPr>
          <p:cNvSpPr/>
          <p:nvPr/>
        </p:nvSpPr>
        <p:spPr bwMode="auto">
          <a:xfrm>
            <a:off x="5251602" y="3912751"/>
            <a:ext cx="6577231" cy="2261936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C08D7C0-1461-2F4D-62E2-87E64776FA24}"/>
              </a:ext>
            </a:extLst>
          </p:cNvPr>
          <p:cNvSpPr txBox="1"/>
          <p:nvPr/>
        </p:nvSpPr>
        <p:spPr bwMode="auto">
          <a:xfrm>
            <a:off x="5302974" y="4041514"/>
            <a:ext cx="66665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Oct 21</a:t>
            </a:r>
            <a:r>
              <a:rPr lang="en-US" sz="1800" b="1" strike="noStrike" spc="-1" noProof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2026 / Day 3 / Lecture &amp; Hands-on </a:t>
            </a:r>
            <a:r>
              <a:rPr lang="en-US" sz="1200" b="1" spc="-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(Dr. Vasileios Karanikolas) 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17C8FBE-AFC3-2A9F-7E73-BC1E3C115F4A}"/>
              </a:ext>
            </a:extLst>
          </p:cNvPr>
          <p:cNvSpPr txBox="1"/>
          <p:nvPr/>
        </p:nvSpPr>
        <p:spPr bwMode="auto">
          <a:xfrm>
            <a:off x="5466928" y="4453643"/>
            <a:ext cx="6162241" cy="165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180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09.00 am	Motivation: Why do we need machine learning in atomic simulations?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09.15 am	Introduction to atomic descriptors for machine learning on the atomic level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10.00 am	Break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10.15 am  	Hands-on Tutorial: Make your own machine-learning model for NMR Shifts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11.00 am	Break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11.15 am	Machine Learning Potential: How to generate a database?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11.30 am	The Atomic Cluster Expansion: How to fit a potential?</a:t>
            </a:r>
          </a:p>
          <a:p>
            <a:pPr marL="0" indent="0" algn="l">
              <a:spcAft>
                <a:spcPts val="150"/>
              </a:spcAft>
              <a:buNone/>
            </a:pPr>
            <a:r>
              <a:rPr lang="en-US" sz="1200" b="0" i="0" u="none" strike="noStrike" noProof="0" dirty="0">
                <a:solidFill>
                  <a:srgbClr val="000000"/>
                </a:solidFill>
                <a:effectLst/>
                <a:latin typeface="Helvetica" pitchFamily="2" charset="0"/>
              </a:rPr>
              <a:t>12.45 pm	Short feedback round</a:t>
            </a:r>
            <a:endParaRPr lang="en-US" sz="1200" kern="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F4315-9750-8B00-2586-78C72CE85A21}"/>
              </a:ext>
            </a:extLst>
          </p:cNvPr>
          <p:cNvSpPr txBox="1"/>
          <p:nvPr/>
        </p:nvSpPr>
        <p:spPr bwMode="auto">
          <a:xfrm>
            <a:off x="517509" y="5321467"/>
            <a:ext cx="4544262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180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</a:pPr>
            <a:r>
              <a:rPr lang="en-US" sz="1200" b="1" noProof="0" dirty="0"/>
              <a:t>Location:</a:t>
            </a:r>
            <a:r>
              <a:rPr lang="en-US" sz="1200" noProof="0" dirty="0"/>
              <a:t> Zoom-ID: </a:t>
            </a:r>
            <a:r>
              <a:rPr lang="en-US" sz="1200" dirty="0"/>
              <a:t>931 413 4120</a:t>
            </a:r>
            <a:r>
              <a:rPr lang="en-US" sz="1200" noProof="0" dirty="0"/>
              <a:t>, PW: </a:t>
            </a:r>
            <a:r>
              <a:rPr lang="en-US" sz="1200" dirty="0"/>
              <a:t>ckW1EZ</a:t>
            </a:r>
            <a:r>
              <a:rPr lang="en-US" sz="1200" noProof="0" dirty="0"/>
              <a:t>  (Online)</a:t>
            </a:r>
            <a:endParaRPr lang="en-US" sz="800" noProof="0" dirty="0"/>
          </a:p>
          <a:p>
            <a:pPr>
              <a:lnSpc>
                <a:spcPts val="2300"/>
              </a:lnSpc>
              <a:spcAft>
                <a:spcPts val="0"/>
              </a:spcAft>
            </a:pPr>
            <a:r>
              <a:rPr lang="en-US" sz="800" u="sng" dirty="0"/>
              <a:t>https://tu-darmstadt.zoom-x.de/j/9314134120?pwd=DvShu7Zm4MbSu5hI3zS2FLQBbg7d4I.1</a:t>
            </a:r>
            <a:endParaRPr lang="en-US" sz="800" noProof="0" dirty="0"/>
          </a:p>
        </p:txBody>
      </p:sp>
      <p:sp>
        <p:nvSpPr>
          <p:cNvPr id="4" name="Rechteck 15">
            <a:extLst>
              <a:ext uri="{FF2B5EF4-FFF2-40B4-BE49-F238E27FC236}">
                <a16:creationId xmlns:a16="http://schemas.microsoft.com/office/drawing/2014/main" id="{4D272DEF-6ABE-F854-8067-BCDBB228AAAF}"/>
              </a:ext>
            </a:extLst>
          </p:cNvPr>
          <p:cNvSpPr/>
          <p:nvPr/>
        </p:nvSpPr>
        <p:spPr bwMode="auto">
          <a:xfrm>
            <a:off x="423115" y="5321467"/>
            <a:ext cx="4658319" cy="691380"/>
          </a:xfrm>
          <a:prstGeom prst="rect">
            <a:avLst/>
          </a:prstGeom>
          <a:noFill/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563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&gt;&lt;version val=&quot;17289&quot;/&gt;&lt;partner val=&quot;530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2&quot;/&gt;&lt;m_mruColor&gt;&lt;m_vecMRU length=&quot;0&quot;/&gt;&lt;/m_mruColor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/m_precDefault&gt;&lt;/CDefaultPrec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NHR4CES">
  <a:themeElements>
    <a:clrScheme name="Benutzerdefiniert 2">
      <a:dk1>
        <a:srgbClr val="000000"/>
      </a:dk1>
      <a:lt1>
        <a:srgbClr val="FFFFFF"/>
      </a:lt1>
      <a:dk2>
        <a:srgbClr val="1D0E4C"/>
      </a:dk2>
      <a:lt2>
        <a:srgbClr val="461323"/>
      </a:lt2>
      <a:accent1>
        <a:srgbClr val="90B1D0"/>
      </a:accent1>
      <a:accent2>
        <a:srgbClr val="F2EB7C"/>
      </a:accent2>
      <a:accent3>
        <a:srgbClr val="B1E3E3"/>
      </a:accent3>
      <a:accent4>
        <a:srgbClr val="C6E4E0"/>
      </a:accent4>
      <a:accent5>
        <a:srgbClr val="83BDD6"/>
      </a:accent5>
      <a:accent6>
        <a:srgbClr val="F6F4B9"/>
      </a:accent6>
      <a:hlink>
        <a:srgbClr val="612158"/>
      </a:hlink>
      <a:folHlink>
        <a:srgbClr val="46132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0795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079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algn="ctr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180000" bIns="0" numCol="1" anchor="t" anchorCtr="0" compatLnSpc="1">
        <a:prstTxWarp prst="textNoShape">
          <a:avLst/>
        </a:prstTxWarp>
      </a:bodyPr>
      <a:lstStyle>
        <a:defPPr marL="0" indent="0" algn="l">
          <a:lnSpc>
            <a:spcPts val="2300"/>
          </a:lnSpc>
          <a:spcAft>
            <a:spcPts val="0"/>
          </a:spcAft>
          <a:buNone/>
          <a:defRPr sz="1800" kern="0" dirty="0"/>
        </a:defPPr>
      </a:lstStyle>
    </a:txDef>
  </a:objectDefaults>
  <a:extraClrSchemeLst>
    <a:extraClrScheme>
      <a:clrScheme name="2_Vorlage RWTH Campus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B3D3E9"/>
        </a:accent1>
        <a:accent2>
          <a:srgbClr val="006DB6"/>
        </a:accent2>
        <a:accent3>
          <a:srgbClr val="FFFFFF"/>
        </a:accent3>
        <a:accent4>
          <a:srgbClr val="000000"/>
        </a:accent4>
        <a:accent5>
          <a:srgbClr val="D6E6F2"/>
        </a:accent5>
        <a:accent6>
          <a:srgbClr val="0062A5"/>
        </a:accent6>
        <a:hlink>
          <a:srgbClr val="80B6DA"/>
        </a:hlink>
        <a:folHlink>
          <a:srgbClr val="4D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A2880655CBA343B4A9F7EB5673C679" ma:contentTypeVersion="9" ma:contentTypeDescription="Ein neues Dokument erstellen." ma:contentTypeScope="" ma:versionID="d2685a2fad75ea666c33a3d01e0e2ae0">
  <xsd:schema xmlns:xsd="http://www.w3.org/2001/XMLSchema" xmlns:xs="http://www.w3.org/2001/XMLSchema" xmlns:p="http://schemas.microsoft.com/office/2006/metadata/properties" xmlns:ns2="08bfa92b-2b41-4aaf-87d6-9162256e69d9" targetNamespace="http://schemas.microsoft.com/office/2006/metadata/properties" ma:root="true" ma:fieldsID="4b51d5abf6bb6d8eacc154fab172fbcf" ns2:_="">
    <xsd:import namespace="08bfa92b-2b41-4aaf-87d6-9162256e69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fa92b-2b41-4aaf-87d6-9162256e69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1FEB95-47D3-4C47-8BAB-28E6658CDAE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2E291B9-C9DB-4732-8F5E-D99E532289BD}">
  <ds:schemaRefs>
    <ds:schemaRef ds:uri="08bfa92b-2b41-4aaf-87d6-9162256e69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01BDDB-7287-4CE8-A5DA-890B684DE4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368</Words>
  <Application>Microsoft Office PowerPoint</Application>
  <PresentationFormat>Widescreen</PresentationFormat>
  <Paragraphs>43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Helvetica</vt:lpstr>
      <vt:lpstr>Lexend</vt:lpstr>
      <vt:lpstr>Wingdings</vt:lpstr>
      <vt:lpstr>Wingdings 2</vt:lpstr>
      <vt:lpstr>NHR4CES</vt:lpstr>
      <vt:lpstr>think-cell Folie</vt:lpstr>
      <vt:lpstr>PowerPoint Presentation</vt:lpstr>
      <vt:lpstr>PowerPoint Presentation</vt:lpstr>
    </vt:vector>
  </TitlesOfParts>
  <Manager/>
  <Company>WZL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Campus-PPT-Master_16zu9_neue Anleitung.pptx</dc:title>
  <dc:subject/>
  <dc:creator>Wiebke Kühlken</dc:creator>
  <cp:keywords/>
  <dc:description/>
  <cp:lastModifiedBy>dd12hesa</cp:lastModifiedBy>
  <cp:revision>455</cp:revision>
  <cp:lastPrinted>2014-09-10T13:09:02Z</cp:lastPrinted>
  <dcterms:created xsi:type="dcterms:W3CDTF">2015-02-26T14:47:21Z</dcterms:created>
  <dcterms:modified xsi:type="dcterms:W3CDTF">2026-10-08T10:38:02Z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0x010100B8A2880655CBA343B4A9F7EB5673C679</vt:lpwstr>
  </property>
</Properties>
</file>